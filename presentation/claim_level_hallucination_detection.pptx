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2F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Claim-Level Hallucination Detection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3063240"/>
            <a:ext cx="1920240" cy="54864"/>
          </a:xfrm>
          <a:prstGeom prst="rect">
            <a:avLst/>
          </a:prstGeom>
          <a:solidFill>
            <a:srgbClr val="2F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C7D3E4"/>
                </a:solidFill>
                <a:latin typeface="Calibri"/>
              </a:rPr>
              <a:t>LLM answer → atomic claims → evidence retrieval → selective NLI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4A90D9"/>
                </a:solidFill>
                <a:latin typeface="Calibri"/>
              </a:rPr>
              <a:t>Python · PyTorch · Transformers · BM25 + FAISS RAG · FastAPI ·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B756E"/>
                </a:solidFill>
                <a:latin typeface="Calibri"/>
              </a:rPr>
              <a:t>v5 · one held-out FEVER test pass · all eight preregistered gates passed
github.com/abhassen44/hallucination_detector_LLM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9FB3C9"/>
                </a:solidFill>
                <a:latin typeface="Calibri"/>
              </a:rPr>
              <a:t>Served path uses the fixed calibrated rule; the learned detector stays offline.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56E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Why claim-level verification?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6675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>
                <a:solidFill>
                  <a:srgbClr val="2A3A30"/>
                </a:solidFill>
                <a:latin typeface="Calibri"/>
              </a:rPr>
              <a:t>•  Whole-response scoring hides compound answers: one LLM reply can be partly supported and partly fabricated.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A3A30"/>
                </a:solidFill>
                <a:latin typeface="Calibri"/>
              </a:rPr>
              <a:t>•  We assess each atomic factual claim individually, not the response as a whole.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A3A30"/>
                </a:solidFill>
                <a:latin typeface="Calibri"/>
              </a:rPr>
              <a:t>•  Three-way verdict with evidence: SUPPORTED, CONTRADICTED, or INSUFFICIENT.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A3A30"/>
                </a:solidFill>
                <a:latin typeface="Calibri"/>
              </a:rPr>
              <a:t>•  Not-enough-info (NEI) is the hardest class — a wrong answer is worse than a calibrated abstention.</a:t>
            </a:r>
          </a:p>
          <a:p>
            <a:pPr algn="l">
              <a:spcAft>
                <a:spcPts val="1400"/>
              </a:spcAft>
            </a:pPr>
            <a:r>
              <a:rPr sz="1700">
                <a:solidFill>
                  <a:srgbClr val="2A3A30"/>
                </a:solidFill>
                <a:latin typeface="Calibri"/>
              </a:rPr>
              <a:t>•  Serving must therefore be selective: answer only when evidence supports a verdict.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709160"/>
            <a:ext cx="2017776" cy="96012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LLM answer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Gemma/Ollama extraction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76143" y="508863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68751" y="4709160"/>
            <a:ext cx="2017776" cy="96012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Atomic claims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subject-predicate-object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004815" y="508863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297424" y="4709160"/>
            <a:ext cx="2017776" cy="96012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Per-claim verdicts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3-way +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1371600"/>
            <a:ext cx="4023360" cy="475488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600200"/>
            <a:ext cx="3474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</a:rPr>
              <a:t>Datasets &amp; corpus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194560"/>
            <a:ext cx="3474720" cy="3749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3A30"/>
                </a:solidFill>
                <a:latin typeface="Calibri"/>
              </a:rPr>
              <a:t>• FEVER claims (train / val / test)
• 247,848-sentence Wikipedia corpus
• HaluEval QA for transfer analysis
• RAGTruth span-level annotations
• Silver labels — research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56E"/>
                </a:solidFill>
                <a:latin typeface="Calibri"/>
              </a:rPr>
              <a:t>Claim-Level Hallucination Detection System — v5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739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5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56E"/>
                </a:solidFill>
                <a:latin typeface="Calibri"/>
              </a:rP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Pipeline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63040"/>
            <a:ext cx="1661159" cy="137160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1 · Claim extraction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Ollama LLM JSON pipeline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99487" y="204825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92095" y="1463040"/>
            <a:ext cx="1661159" cy="137160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2 · Hybrid retrieval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BM25 + BGE dense (RRF)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1543" y="204825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64151" y="1463040"/>
            <a:ext cx="1661159" cy="137160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3 · Evidence fusion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top-k sentence evidence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43599" y="204825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36207" y="1463040"/>
            <a:ext cx="1661159" cy="137160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4 · Verification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DeBERTa NLI + similarity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15655" y="204825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08263" y="1463040"/>
            <a:ext cx="1661159" cy="137160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5 · Selective policy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frozen 0.7 / 0.95 rule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87711" y="204825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180319" y="1463040"/>
            <a:ext cx="1661159" cy="137160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6 · Verdict &amp; UI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FastAPI + React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9184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Claims are deduplicated and mapped to concise factual propositions before retrieval.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Retrieval fuses lexical BM25 with dense BGE embeddings over a 247,848-sentence Wikipedia corpus; strict Recall@5 reaches 90.2% (dense).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Verification combines DeBERTa-v3 NLI with BGE semantic similarity; oracle-evidence accuracy is 94.3%.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The selective policy abstains on low-confidence claims; the app serves the fixed calibrated rule, never the learned model.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The FastAPI app serves the built React UI on one origin (/verify, /retrieve, /detect, /health).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56E"/>
                </a:solidFill>
                <a:latin typeface="Calibri"/>
              </a:rPr>
              <a:t>Claim-Level Hallucination Detection System — v5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739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5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56E"/>
                </a:solidFill>
                <a:latin typeface="Calibri"/>
              </a:rPr>
              <a:t>VERSIONS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Research evolution v1 → v5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17320"/>
          <a:ext cx="113842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5852160"/>
                <a:gridCol w="4709160"/>
              </a:tblGrid>
              <a:tr h="7467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Focus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Outcome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Learned verifier (logistic regression on NLI, similarity, retrieval features)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Test: macro-F1 0.702 vs 0.633 fixed rule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v2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Temperature scaling + selective policy + abstention flag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Test: Brier / abstention gates failed → stays offline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v3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Vector scaling + answerability booster, richer diagnostics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Val only — no test pass spent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v4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Cross-encoder rerank + 9k train + NEI tuning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Val only — no test pass spent (negative result)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  <a:tr h="74676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v5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MiniCheck grounding features + answerability head + robust policy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Test: all eight preregistered gates 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035040"/>
            <a:ext cx="11155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6B756E"/>
                </a:solidFill>
                <a:latin typeface="Calibri"/>
              </a:rPr>
              <a:t>Discipline: exactly one FEVER test pass in total; every earlier version stopped on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56E"/>
                </a:solidFill>
                <a:latin typeface="Calibri"/>
              </a:rPr>
              <a:t>Claim-Level Hallucination Detection System — v5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739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5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56E"/>
                </a:solidFill>
                <a:latin typeface="Calibri"/>
              </a:rPr>
              <a:t>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v5 method: grounding-aware NEI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63040"/>
            <a:ext cx="2055571" cy="137160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Grounding features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MiniCheck MC-LLM / HHEM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93899" y="204825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86507" y="1463040"/>
            <a:ext cx="2055571" cy="137160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NLI + similarity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DeBERTa-v3 + BGE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60366" y="204825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52974" y="1463040"/>
            <a:ext cx="2055571" cy="137160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Answerability head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HGB, distilled from policy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26833" y="204825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19441" y="1463040"/>
            <a:ext cx="2055571" cy="137160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Robust policy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frozen thresholds (τ = 0.62)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93300" y="204825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5908" y="1463040"/>
            <a:ext cx="2055571" cy="137160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Verdict / abstain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abstain → INSUFFICIENT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68580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MiniCheck grounding scores judge each claim against its retrieved evidence and become calibrated features.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A distilled answerability head models when NEI claims can reliably be answered.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The robust policy maps abstentions to INSUFFICIENT and keeps answered precision high.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Frames: 9,000 train / 999 val / 1,998 test; frozen before the single test pass.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383280"/>
            <a:ext cx="3931920" cy="265176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35661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Serving boundary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023360"/>
            <a:ext cx="34747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A3A30"/>
                </a:solidFill>
                <a:latin typeface="Calibri"/>
              </a:rPr>
              <a:t>Served app → fixed 0.7 / 0.95 rule
Learned v5 → offline research only
No serving promotion of v5.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56E"/>
                </a:solidFill>
                <a:latin typeface="Calibri"/>
              </a:rPr>
              <a:t>Claim-Level Hallucination Detection System — v5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5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56E"/>
                </a:solidFill>
                <a:latin typeface="Calibri"/>
              </a:rPr>
              <a:t>RIGOUR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Evaluation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FEVER splits: 3,000 train / 999 val / 1,998 test claims; 666 per class at test time.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One test pass total: pipeline, features, thresholds, and seeds frozen in experiments/v5/freeze.json before the run.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Eight preregistered gates evaluated on test: macro-F1, INSUFFICIENT F1, answerability AUROC, Brier, overall precision / coverage, verifiable precision / coverage, NEI coverage.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Metric hygiene: FEVER claim-level metrics are kept separate from HaluEval answer-level and RAGTruth span-level metrics.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Labels are silver (LLM-proposed), so no human-adjudication claim is made.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417320"/>
            <a:ext cx="3749039" cy="452628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79" y="164592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Freeze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83879" y="2103120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3A30"/>
                </a:solidFill>
                <a:latin typeface="Calibri"/>
              </a:rPr>
              <a:t>✓ Feature set locked
✓ Thresholds frozen
✓ Seeds fixed
✓ Gates predeclared
✓ Single test execution
✓ Predictions archived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56E"/>
                </a:solidFill>
                <a:latin typeface="Calibri"/>
              </a:rPr>
              <a:t>Claim-Level Hallucination Detection System — v5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5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56E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Held-out test results (1,998 claims)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463040"/>
          <a:ext cx="57607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468880"/>
              </a:tblGrid>
              <a:tr h="4775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0.7369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0.7372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SUPPORTED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0.8601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CONTRADICTED F1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0.7059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INSUFFICIENT F1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0.6448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Answerability AUROC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0.8381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Brier / ECE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0.3752 / 0.0218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752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Verifiable precision @ coverage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A3A30"/>
                          </a:solidFill>
                        </a:rPr>
                        <a:t>0.9550 @ 0.8176</a:t>
                      </a:r>
                    </a:p>
                  </a:txBody>
                  <a:tcPr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391656" y="2405165"/>
            <a:ext cx="5367528" cy="232198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6_validation_vs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460029"/>
            <a:ext cx="5257800" cy="2212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580644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B756E"/>
                </a:solidFill>
                <a:latin typeface="Calibri"/>
              </a:rPr>
              <a:t>Validation vs test — v5 generalises without val-tuned inflation.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56E"/>
                </a:solidFill>
                <a:latin typeface="Calibri"/>
              </a:rPr>
              <a:t>Claim-Level Hallucination Detection System — v5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5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56E"/>
                </a:solidFill>
                <a:latin typeface="Calibri"/>
              </a:rPr>
              <a:t>RESULTS ·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Per-class behaviour and confusion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952839"/>
            <a:ext cx="5687568" cy="3318081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per_class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07703"/>
            <a:ext cx="5577840" cy="320835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376903" y="1408176"/>
            <a:ext cx="5259872" cy="4407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767" y="1463040"/>
            <a:ext cx="5150144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5897880"/>
            <a:ext cx="5577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B756E"/>
                </a:solidFill>
                <a:latin typeface="Calibri"/>
              </a:rPr>
              <a:t>SUPPORTED is strong; CONTRADICTED/INSUFFICIENT trade off.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8978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B756E"/>
                </a:solidFill>
                <a:latin typeface="Calibri"/>
              </a:rPr>
              <a:t>Main confusions: INSUFFICIENT ↔ CONTRADICTED.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56E"/>
                </a:solidFill>
                <a:latin typeface="Calibri"/>
              </a:rPr>
              <a:t>Claim-Level Hallucination Detection System — v5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5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56E"/>
                </a:solidFill>
                <a:latin typeface="Calibri"/>
              </a:rPr>
              <a:t>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NEI outcomes and the risk–coverage trade-off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" y="1661903"/>
            <a:ext cx="5687568" cy="3534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nei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6767"/>
            <a:ext cx="5577840" cy="34244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08776" y="1619584"/>
            <a:ext cx="5596128" cy="361883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risk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74448"/>
            <a:ext cx="5486400" cy="3509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6235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A3A30"/>
                </a:solidFill>
                <a:latin typeface="Calibri"/>
              </a:rPr>
              <a:t>•  Of 666 NEI claims: 431 abstained (64.7%), 2 answered correctly, 233 answered wrong — answered NEI precision is only 0.85%.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A3A30"/>
                </a:solidFill>
                <a:latin typeface="Calibri"/>
              </a:rPr>
              <a:t>•  Effective verifiable accuracy ≈ 0.8176 × 0.9550 ≈ 0.781 — the policy buys precision with coverage.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56E"/>
                </a:solidFill>
                <a:latin typeface="Calibri"/>
              </a:rPr>
              <a:t>Claim-Level Hallucination Detection System — v5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56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56E"/>
                </a:solidFill>
                <a:latin typeface="Calibri"/>
              </a:rPr>
              <a:t>SERVING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Application: FastAPI + React demo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463040"/>
            <a:ext cx="2055571" cy="128016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React client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bounded 240 s calls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93899" y="200253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686507" y="1463040"/>
            <a:ext cx="2055571" cy="128016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FastAPI app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v0.3.1 hardened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60366" y="200253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52974" y="1463040"/>
            <a:ext cx="2055571" cy="128016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Endpoints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/verify · /retrieve · /detect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26833" y="200253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19441" y="1463040"/>
            <a:ext cx="2055571" cy="128016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Pipelines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extraction → RAG → policy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493300" y="2002536"/>
            <a:ext cx="274320" cy="201168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785908" y="1463040"/>
            <a:ext cx="2055571" cy="128016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B1F3A"/>
                </a:solidFill>
                <a:latin typeface="Calibri"/>
              </a:rPr>
              <a:t>Response</a:t>
            </a:r>
          </a:p>
          <a:p>
            <a:pPr algn="ctr"/>
            <a:r>
              <a:rPr sz="1000">
                <a:solidFill>
                  <a:srgbClr val="6B756E"/>
                </a:solidFill>
                <a:latin typeface="Calibri"/>
              </a:rPr>
              <a:t>verdict + evidence citations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46120"/>
            <a:ext cx="6035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2A3A30"/>
                </a:solidFill>
                <a:latin typeface="Calibri"/>
              </a:rPr>
              <a:t>•  Two modes: Wikipedia retrieval evidence and user-supplied source verification.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A3A30"/>
                </a:solidFill>
                <a:latin typeface="Calibri"/>
              </a:rPr>
              <a:t>•  Hardened: request IDs, CORS local allowlist, nosniff / cache headers, safe metrics parsing, 503 handling with build command.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2A3A30"/>
                </a:solidFill>
                <a:latin typeface="Calibri"/>
              </a:rPr>
              <a:t>•  Serialized inference keeps GPU work stable; the built React bundle is served on one origin.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3246120"/>
            <a:ext cx="4754880" cy="292608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347472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Correctness of the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886200"/>
            <a:ext cx="420624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2A3A30"/>
                </a:solidFill>
                <a:latin typeface="Calibri"/>
              </a:rPr>
              <a:t>• 163 Python + 7 frontend tests
• Live smoke tests: /health, /, /charts,
   /verify, /retrieve, /detect
• Serves the fixed 0.7 / 0.95 rule —
   learned detector stays offline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56E"/>
                </a:solidFill>
                <a:latin typeface="Calibri"/>
              </a:rPr>
              <a:t>Claim-Level Hallucination Detection System — v5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5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F68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6B756E"/>
                </a:solidFill>
                <a:latin typeface="Calibri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0B1F3A"/>
                </a:solidFill>
                <a:latin typeface="Calibri"/>
              </a:rPr>
              <a:t>Limitations and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v5 is the best research version but is NOT promoted to serving; the fixed calibrated rule remains the served path.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NEI answer precision is still poor (0.85%); abstention covers most NEI claims instead of answering them.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Labels are silver; there is no human-adjudication claim, and NER/NN latency for the learned path is unmeasured.</a:t>
            </a:r>
          </a:p>
          <a:p>
            <a:pPr algn="l">
              <a:spcAft>
                <a:spcPts val="1000"/>
              </a:spcAft>
            </a:pPr>
            <a:r>
              <a:rPr sz="1500">
                <a:solidFill>
                  <a:srgbClr val="2A3A30"/>
                </a:solidFill>
                <a:latin typeface="Calibri"/>
              </a:rPr>
              <a:t>•  Overall answered precision is 0.787 at 0.663 coverage — useful, but not production vetting.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389120"/>
            <a:ext cx="10881360" cy="1737360"/>
          </a:xfrm>
          <a:prstGeom prst="roundRect">
            <a:avLst/>
          </a:prstGeom>
          <a:solidFill>
            <a:srgbClr val="F5F7F4"/>
          </a:solidFill>
          <a:ln w="12700">
            <a:solidFill>
              <a:srgbClr val="C9D6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0B1F3A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2A3A30"/>
                </a:solidFill>
                <a:latin typeface="Calibri"/>
              </a:rPr>
              <a:t>Evidence-grounded, selective claim verification works and is honest about its boundary. Next: improve NEI answer quality, human validation of a sample, latency gates, and an optional opt-in grounded verifier port (defaults off).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B756E"/>
                </a:solidFill>
                <a:latin typeface="Calibri"/>
              </a:rPr>
              <a:t>Claim-Level Hallucination Detection System — v5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5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